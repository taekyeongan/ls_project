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3" r:id="rId7"/>
    <p:sldId id="262" r:id="rId8"/>
    <p:sldId id="261" r:id="rId9"/>
    <p:sldId id="268" r:id="rId10"/>
    <p:sldId id="264" r:id="rId11"/>
    <p:sldId id="267" r:id="rId12"/>
    <p:sldId id="265" r:id="rId13"/>
    <p:sldId id="266" r:id="rId14"/>
    <p:sldId id="272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5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93D8-B3E2-48E1-9B71-506BEC6A2FD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20C41-73A2-4E3E-88D5-5C2B2B6F8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6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93D8-B3E2-48E1-9B71-506BEC6A2FD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20C41-73A2-4E3E-88D5-5C2B2B6F8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36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93D8-B3E2-48E1-9B71-506BEC6A2FD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20C41-73A2-4E3E-88D5-5C2B2B6F8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55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93D8-B3E2-48E1-9B71-506BEC6A2FD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20C41-73A2-4E3E-88D5-5C2B2B6F8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05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93D8-B3E2-48E1-9B71-506BEC6A2FD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20C41-73A2-4E3E-88D5-5C2B2B6F8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7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93D8-B3E2-48E1-9B71-506BEC6A2FD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20C41-73A2-4E3E-88D5-5C2B2B6F8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37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93D8-B3E2-48E1-9B71-506BEC6A2FD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20C41-73A2-4E3E-88D5-5C2B2B6F8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533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93D8-B3E2-48E1-9B71-506BEC6A2FD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20C41-73A2-4E3E-88D5-5C2B2B6F8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30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93D8-B3E2-48E1-9B71-506BEC6A2FD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20C41-73A2-4E3E-88D5-5C2B2B6F8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69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93D8-B3E2-48E1-9B71-506BEC6A2FD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20C41-73A2-4E3E-88D5-5C2B2B6F8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08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893D8-B3E2-48E1-9B71-506BEC6A2FD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20C41-73A2-4E3E-88D5-5C2B2B6F8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201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893D8-B3E2-48E1-9B71-506BEC6A2FD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20C41-73A2-4E3E-88D5-5C2B2B6F87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6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060" y="234265"/>
            <a:ext cx="4936073" cy="403082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443" y="4598946"/>
            <a:ext cx="7546198" cy="211714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90717" y="301998"/>
            <a:ext cx="3454792" cy="137518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 fontAlgn="base">
              <a:lnSpc>
                <a:spcPct val="150000"/>
              </a:lnSpc>
            </a:pPr>
            <a:r>
              <a:rPr lang="ko-KR" altLang="en-US" sz="3000" b="1" i="0" dirty="0" smtClean="0">
                <a:solidFill>
                  <a:srgbClr val="202124"/>
                </a:solidFill>
                <a:effectLst/>
                <a:latin typeface="Inter"/>
              </a:rPr>
              <a:t>전력 사용에 따른 </a:t>
            </a:r>
            <a:endParaRPr lang="en-US" altLang="ko-KR" sz="3000" b="1" i="0" dirty="0" smtClean="0">
              <a:solidFill>
                <a:srgbClr val="202124"/>
              </a:solidFill>
              <a:effectLst/>
              <a:latin typeface="Inter"/>
            </a:endParaRPr>
          </a:p>
          <a:p>
            <a:pPr algn="ctr" fontAlgn="base">
              <a:lnSpc>
                <a:spcPct val="150000"/>
              </a:lnSpc>
            </a:pPr>
            <a:r>
              <a:rPr lang="ko-KR" altLang="en-US" sz="3000" b="1" i="0" dirty="0" smtClean="0">
                <a:solidFill>
                  <a:srgbClr val="202124"/>
                </a:solidFill>
                <a:effectLst/>
                <a:latin typeface="Inter"/>
              </a:rPr>
              <a:t>전기요금 예측</a:t>
            </a:r>
            <a:endParaRPr lang="ko-KR" altLang="en-US" sz="3000" b="1" i="0" dirty="0">
              <a:solidFill>
                <a:srgbClr val="202124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4469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7" y="970925"/>
            <a:ext cx="11734800" cy="50600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7500" y="298450"/>
            <a:ext cx="10310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 smtClean="0"/>
              <a:t>train</a:t>
            </a:r>
            <a:endParaRPr lang="ko-KR" alt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60886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500" y="298450"/>
            <a:ext cx="8674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 smtClean="0"/>
              <a:t>test</a:t>
            </a:r>
            <a:endParaRPr lang="ko-KR" altLang="en-US" sz="3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894" y="217035"/>
            <a:ext cx="4201111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4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467" y="418353"/>
            <a:ext cx="7349066" cy="602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4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467" y="160867"/>
            <a:ext cx="6654800" cy="66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5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533" y="1429707"/>
            <a:ext cx="5926668" cy="389698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65" y="1429707"/>
            <a:ext cx="5926668" cy="389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9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685800"/>
            <a:ext cx="862012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9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0" y="1143000"/>
            <a:ext cx="74295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03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684" y="567267"/>
            <a:ext cx="9300632" cy="572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61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33" y="1439852"/>
            <a:ext cx="6350000" cy="375816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086" y="1527503"/>
            <a:ext cx="5076498" cy="375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98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725" y="609600"/>
            <a:ext cx="8208682" cy="5774266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108200" y="863600"/>
            <a:ext cx="6722533" cy="165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108200" y="2514600"/>
            <a:ext cx="6722533" cy="165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108200" y="4165600"/>
            <a:ext cx="6722533" cy="165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60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46" y="1253067"/>
            <a:ext cx="5885664" cy="419523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418" y="1253067"/>
            <a:ext cx="5996714" cy="4195232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313269" y="1430866"/>
            <a:ext cx="4859866" cy="3623734"/>
            <a:chOff x="2108200" y="863600"/>
            <a:chExt cx="6722533" cy="4953000"/>
          </a:xfrm>
        </p:grpSpPr>
        <p:sp>
          <p:nvSpPr>
            <p:cNvPr id="6" name="직사각형 5"/>
            <p:cNvSpPr/>
            <p:nvPr/>
          </p:nvSpPr>
          <p:spPr>
            <a:xfrm>
              <a:off x="2108200" y="863600"/>
              <a:ext cx="6722533" cy="1651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108200" y="2514600"/>
              <a:ext cx="6722533" cy="1651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108200" y="4165600"/>
              <a:ext cx="6722533" cy="1651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6349999" y="1430866"/>
            <a:ext cx="4851399" cy="3623734"/>
            <a:chOff x="2108200" y="863600"/>
            <a:chExt cx="6722533" cy="4953000"/>
          </a:xfrm>
        </p:grpSpPr>
        <p:sp>
          <p:nvSpPr>
            <p:cNvPr id="11" name="직사각형 10"/>
            <p:cNvSpPr/>
            <p:nvPr/>
          </p:nvSpPr>
          <p:spPr>
            <a:xfrm>
              <a:off x="2108200" y="863600"/>
              <a:ext cx="6722533" cy="1651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108200" y="2514600"/>
              <a:ext cx="6722533" cy="1651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108200" y="4165600"/>
              <a:ext cx="6722533" cy="1651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426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467" y="864903"/>
            <a:ext cx="8415866" cy="517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8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1" y="744716"/>
            <a:ext cx="5588230" cy="34784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56781" y="5335572"/>
            <a:ext cx="4353318" cy="36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Stage1 6</a:t>
            </a:r>
            <a:r>
              <a:rPr lang="ko-KR" altLang="en-US" dirty="0" smtClean="0"/>
              <a:t>개 변수 예측 정확도 </a:t>
            </a:r>
            <a:r>
              <a:rPr lang="ko-KR" altLang="en-US" dirty="0" err="1" smtClean="0"/>
              <a:t>높여보기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450" y="856046"/>
            <a:ext cx="5913382" cy="32558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5981" y="4411744"/>
            <a:ext cx="4353318" cy="36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X</a:t>
            </a:r>
            <a:r>
              <a:rPr lang="ko-KR" altLang="en-US" dirty="0" smtClean="0"/>
              <a:t>축 </a:t>
            </a:r>
            <a:r>
              <a:rPr lang="ko-KR" altLang="en-US" dirty="0" err="1" smtClean="0"/>
              <a:t>실제값</a:t>
            </a:r>
            <a:r>
              <a:rPr lang="en-US" altLang="ko-KR" dirty="0" smtClean="0"/>
              <a:t>, y</a:t>
            </a:r>
            <a:r>
              <a:rPr lang="ko-KR" altLang="en-US" dirty="0" smtClean="0"/>
              <a:t>축 </a:t>
            </a:r>
            <a:r>
              <a:rPr lang="ko-KR" altLang="en-US" dirty="0" err="1" smtClean="0"/>
              <a:t>예측값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838682" y="4356079"/>
            <a:ext cx="4353318" cy="36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잔차</a:t>
            </a:r>
            <a:r>
              <a:rPr lang="ko-KR" altLang="en-US" dirty="0" smtClean="0"/>
              <a:t> 분포도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51581" y="188533"/>
            <a:ext cx="4353318" cy="36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752 </a:t>
            </a:r>
            <a:r>
              <a:rPr lang="ko-KR" altLang="en-US" dirty="0" smtClean="0"/>
              <a:t>모델 분석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668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r="51474" b="49140"/>
          <a:stretch/>
        </p:blipFill>
        <p:spPr>
          <a:xfrm>
            <a:off x="2859562" y="612744"/>
            <a:ext cx="6425840" cy="44397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2442" y="5552389"/>
            <a:ext cx="8252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09</a:t>
            </a:r>
            <a:r>
              <a:rPr lang="ko-KR" altLang="en-US" dirty="0" smtClean="0"/>
              <a:t>시</a:t>
            </a:r>
            <a:r>
              <a:rPr lang="en-US" altLang="ko-KR" dirty="0" smtClean="0"/>
              <a:t>~23</a:t>
            </a:r>
            <a:r>
              <a:rPr lang="ko-KR" altLang="en-US" dirty="0" smtClean="0"/>
              <a:t>시 </a:t>
            </a:r>
            <a:r>
              <a:rPr lang="ko-KR" altLang="en-US" dirty="0" err="1" smtClean="0"/>
              <a:t>지상역률의</a:t>
            </a:r>
            <a:r>
              <a:rPr lang="ko-KR" altLang="en-US" dirty="0" smtClean="0"/>
              <a:t>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실제 값보다 </a:t>
            </a:r>
            <a:r>
              <a:rPr lang="ko-KR" altLang="en-US" dirty="0" err="1" smtClean="0"/>
              <a:t>예측값이</a:t>
            </a:r>
            <a:r>
              <a:rPr lang="ko-KR" altLang="en-US" dirty="0" smtClean="0"/>
              <a:t> 낮게 예측되고 있음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1581" y="188533"/>
            <a:ext cx="4353318" cy="36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752 </a:t>
            </a:r>
            <a:r>
              <a:rPr lang="ko-KR" altLang="en-US" dirty="0" smtClean="0"/>
              <a:t>모델 분석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11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53266" t="-416" r="-374" b="50850"/>
          <a:stretch/>
        </p:blipFill>
        <p:spPr>
          <a:xfrm>
            <a:off x="2592371" y="339363"/>
            <a:ext cx="6956982" cy="40885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42759" y="4939647"/>
            <a:ext cx="8252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요금이 비싼 구간 혹은 전기요금이 고점을 찍을 때를 예측을 잘 못하고 있음</a:t>
            </a:r>
            <a:endParaRPr lang="en-US" altLang="ko-KR" dirty="0" smtClean="0"/>
          </a:p>
          <a:p>
            <a:r>
              <a:rPr lang="en-US" altLang="ko-KR" dirty="0" smtClean="0"/>
              <a:t>(100% </a:t>
            </a:r>
            <a:r>
              <a:rPr lang="ko-KR" altLang="en-US" dirty="0" smtClean="0"/>
              <a:t>신뢰는 할 수 없음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우리가 만든 검정 데이터셋이랑 </a:t>
            </a:r>
            <a:r>
              <a:rPr lang="ko-KR" altLang="en-US" dirty="0" err="1" smtClean="0"/>
              <a:t>캐글</a:t>
            </a:r>
            <a:r>
              <a:rPr lang="ko-KR" altLang="en-US" dirty="0" smtClean="0"/>
              <a:t> 평가 데이터셋이랑 분포가 다르기 때문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1581" y="188533"/>
            <a:ext cx="4353318" cy="36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752 </a:t>
            </a:r>
            <a:r>
              <a:rPr lang="ko-KR" altLang="en-US" dirty="0" smtClean="0"/>
              <a:t>모델 분석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514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858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78</Words>
  <Application>Microsoft Office PowerPoint</Application>
  <PresentationFormat>와이드스크린</PresentationFormat>
  <Paragraphs>14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Inter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6</cp:revision>
  <dcterms:created xsi:type="dcterms:W3CDTF">2025-10-27T07:36:51Z</dcterms:created>
  <dcterms:modified xsi:type="dcterms:W3CDTF">2025-10-31T01:49:52Z</dcterms:modified>
</cp:coreProperties>
</file>